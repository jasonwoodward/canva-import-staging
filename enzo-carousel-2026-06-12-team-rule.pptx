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875520" cy="123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875520" cy="12344400"/>
          </a:xfrm>
          <a:prstGeom prst="rect">
            <a:avLst/>
          </a:prstGeom>
          <a:solidFill>
            <a:srgbClr val="F8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grain-1080x13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875520" cy="1234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914400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28" b="1">
                <a:solidFill>
                  <a:srgbClr val="007074"/>
                </a:solidFill>
                <a:latin typeface="PP Pangram Sans"/>
              </a:rPr>
              <a:t>CMS RULE CHANGE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850392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6048" b="0">
                <a:solidFill>
                  <a:srgbClr val="46213F"/>
                </a:solidFill>
                <a:latin typeface="Reckless"/>
              </a:rPr>
              <a:t>Your referral sources are about to start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913632"/>
            <a:ext cx="4754880" cy="950976"/>
          </a:xfrm>
          <a:prstGeom prst="rect">
            <a:avLst/>
          </a:prstGeom>
          <a:solidFill>
            <a:srgbClr val="DCF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950208"/>
            <a:ext cx="64008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6048" b="0">
                <a:solidFill>
                  <a:srgbClr val="46213F"/>
                </a:solidFill>
                <a:latin typeface="Reckless"/>
              </a:rPr>
              <a:t>grading you.</a:t>
            </a:r>
          </a:p>
        </p:txBody>
      </p:sp>
      <p:sp>
        <p:nvSpPr>
          <p:cNvPr id="8" name="Rounded Rectangle 7"/>
          <p:cNvSpPr/>
          <p:nvPr/>
        </p:nvSpPr>
        <p:spPr>
          <a:xfrm rot="21480000">
            <a:off x="2779776" y="5797296"/>
            <a:ext cx="4572000" cy="3383280"/>
          </a:xfrm>
          <a:prstGeom prst="roundRect">
            <a:avLst>
              <a:gd name="adj" fmla="val 12000"/>
            </a:avLst>
          </a:prstGeom>
          <a:solidFill>
            <a:srgbClr val="E3B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 rot="21480000">
            <a:off x="2651760" y="5669280"/>
            <a:ext cx="4572000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7432">
            <a:solidFill>
              <a:srgbClr val="462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 rot="21480000">
            <a:off x="2926080" y="5907024"/>
            <a:ext cx="40233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12" b="1">
                <a:solidFill>
                  <a:srgbClr val="46213F"/>
                </a:solidFill>
                <a:latin typeface="PP Pangram Sans"/>
              </a:rPr>
              <a:t>AGENCY REPORT CARD</a:t>
            </a:r>
          </a:p>
        </p:txBody>
      </p:sp>
      <p:sp>
        <p:nvSpPr>
          <p:cNvPr id="11" name="Rectangle 10"/>
          <p:cNvSpPr/>
          <p:nvPr/>
        </p:nvSpPr>
        <p:spPr>
          <a:xfrm rot="21480000">
            <a:off x="2926080" y="6272784"/>
            <a:ext cx="4023360" cy="27432"/>
          </a:xfrm>
          <a:prstGeom prst="rect">
            <a:avLst/>
          </a:prstGeom>
          <a:solidFill>
            <a:srgbClr val="462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 rot="21480000">
            <a:off x="2926080" y="6492240"/>
            <a:ext cx="3017520" cy="792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00272A"/>
                </a:solidFill>
                <a:latin typeface="PP Pangram Sans"/>
              </a:rPr>
              <a:t>On-time visits</a:t>
            </a:r>
          </a:p>
        </p:txBody>
      </p:sp>
      <p:sp>
        <p:nvSpPr>
          <p:cNvPr id="13" name="TextBox 12"/>
          <p:cNvSpPr txBox="1"/>
          <p:nvPr/>
        </p:nvSpPr>
        <p:spPr>
          <a:xfrm rot="21480000">
            <a:off x="6035040" y="6455664"/>
            <a:ext cx="914400" cy="792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2304" b="1">
                <a:solidFill>
                  <a:srgbClr val="00272A"/>
                </a:solidFill>
                <a:latin typeface="Reckless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 rot="21480000">
            <a:off x="2926080" y="7284720"/>
            <a:ext cx="3017520" cy="792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00272A"/>
                </a:solidFill>
                <a:latin typeface="PP Pangram Sans"/>
              </a:rPr>
              <a:t>Documentation</a:t>
            </a:r>
          </a:p>
        </p:txBody>
      </p:sp>
      <p:sp>
        <p:nvSpPr>
          <p:cNvPr id="15" name="TextBox 14"/>
          <p:cNvSpPr txBox="1"/>
          <p:nvPr/>
        </p:nvSpPr>
        <p:spPr>
          <a:xfrm rot="21480000">
            <a:off x="6035040" y="7248144"/>
            <a:ext cx="914400" cy="792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2304" b="1">
                <a:solidFill>
                  <a:srgbClr val="00272A"/>
                </a:solidFill>
                <a:latin typeface="Reckless"/>
              </a:rPr>
              <a:t>B+</a:t>
            </a:r>
          </a:p>
        </p:txBody>
      </p:sp>
      <p:sp>
        <p:nvSpPr>
          <p:cNvPr id="16" name="TextBox 15"/>
          <p:cNvSpPr txBox="1"/>
          <p:nvPr/>
        </p:nvSpPr>
        <p:spPr>
          <a:xfrm rot="21480000">
            <a:off x="2926080" y="8077199"/>
            <a:ext cx="3017520" cy="792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00272A"/>
                </a:solidFill>
                <a:latin typeface="PP Pangram Sans"/>
              </a:rPr>
              <a:t>Readmissions</a:t>
            </a:r>
          </a:p>
        </p:txBody>
      </p:sp>
      <p:sp>
        <p:nvSpPr>
          <p:cNvPr id="17" name="TextBox 16"/>
          <p:cNvSpPr txBox="1"/>
          <p:nvPr/>
        </p:nvSpPr>
        <p:spPr>
          <a:xfrm rot="21480000">
            <a:off x="6035040" y="8040623"/>
            <a:ext cx="914400" cy="792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2304" b="1">
                <a:solidFill>
                  <a:srgbClr val="00272A"/>
                </a:solidFill>
                <a:latin typeface="Reckless"/>
              </a:rPr>
              <a:t>?</a:t>
            </a:r>
          </a:p>
        </p:txBody>
      </p:sp>
      <p:pic>
        <p:nvPicPr>
          <p:cNvPr id="18" name="Picture 17" descr="teal-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008" y="7876031"/>
            <a:ext cx="1371600" cy="107899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937760" y="113202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728" b="1">
                <a:solidFill>
                  <a:srgbClr val="46213F"/>
                </a:solidFill>
                <a:latin typeface="PP Pangram Sans"/>
              </a:rPr>
              <a:t>The rule change, explained 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11247120"/>
            <a:ext cx="3657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160" b="1">
                <a:solidFill>
                  <a:srgbClr val="00272A"/>
                </a:solidFill>
                <a:latin typeface="PP Pangram Sans"/>
              </a:rPr>
              <a:t>✦ enzo</a:t>
            </a:r>
            <a:r>
              <a:rPr sz="2160" b="0">
                <a:solidFill>
                  <a:srgbClr val="00272A"/>
                </a:solidFill>
                <a:latin typeface="PP Pangram Sans"/>
              </a:rPr>
              <a:t>health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875520" cy="12344400"/>
          </a:xfrm>
          <a:prstGeom prst="rect">
            <a:avLst/>
          </a:prstGeom>
          <a:solidFill>
            <a:srgbClr val="F8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grain-1080x13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875520" cy="1234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49440" y="804672"/>
            <a:ext cx="21945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584" b="1">
                <a:solidFill>
                  <a:srgbClr val="B59CAE"/>
                </a:solidFill>
                <a:latin typeface="PP Pangram Sans"/>
              </a:rPr>
              <a:t>02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28" b="1">
                <a:solidFill>
                  <a:srgbClr val="007074"/>
                </a:solidFill>
                <a:latin typeface="PP Pangram Sans"/>
              </a:rPr>
              <a:t>THE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3017520"/>
            <a:ext cx="896112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9440" b="0">
                <a:solidFill>
                  <a:srgbClr val="46213F"/>
                </a:solidFill>
                <a:latin typeface="Reckless"/>
              </a:rPr>
              <a:t>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132320"/>
            <a:ext cx="80467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592" b="0">
                <a:solidFill>
                  <a:srgbClr val="00272A"/>
                </a:solidFill>
                <a:latin typeface="PP Pangram Sans"/>
              </a:rPr>
              <a:t>This year, CMS launched the </a:t>
            </a:r>
            <a:r>
              <a:rPr sz="2592" b="1">
                <a:solidFill>
                  <a:srgbClr val="00272A"/>
                </a:solidFill>
                <a:latin typeface="PP Pangram Sans"/>
              </a:rPr>
              <a:t>T</a:t>
            </a:r>
            <a:r>
              <a:rPr sz="2592" b="0">
                <a:solidFill>
                  <a:srgbClr val="00272A"/>
                </a:solidFill>
                <a:latin typeface="PP Pangram Sans"/>
              </a:rPr>
              <a:t>ransforming </a:t>
            </a:r>
            <a:r>
              <a:rPr sz="2592" b="1">
                <a:solidFill>
                  <a:srgbClr val="00272A"/>
                </a:solidFill>
                <a:latin typeface="PP Pangram Sans"/>
              </a:rPr>
              <a:t>E</a:t>
            </a:r>
            <a:r>
              <a:rPr sz="2592" b="0">
                <a:solidFill>
                  <a:srgbClr val="00272A"/>
                </a:solidFill>
                <a:latin typeface="PP Pangram Sans"/>
              </a:rPr>
              <a:t>pisode </a:t>
            </a:r>
            <a:r>
              <a:rPr sz="2592" b="1">
                <a:solidFill>
                  <a:srgbClr val="00272A"/>
                </a:solidFill>
                <a:latin typeface="PP Pangram Sans"/>
              </a:rPr>
              <a:t>A</a:t>
            </a:r>
            <a:r>
              <a:rPr sz="2592" b="0">
                <a:solidFill>
                  <a:srgbClr val="00272A"/>
                </a:solidFill>
                <a:latin typeface="PP Pangram Sans"/>
              </a:rPr>
              <a:t>ccountability </a:t>
            </a:r>
            <a:r>
              <a:rPr sz="2592" b="1">
                <a:solidFill>
                  <a:srgbClr val="00272A"/>
                </a:solidFill>
                <a:latin typeface="PP Pangram Sans"/>
              </a:rPr>
              <a:t>M</a:t>
            </a:r>
            <a:r>
              <a:rPr sz="2592" b="0">
                <a:solidFill>
                  <a:srgbClr val="00272A"/>
                </a:solidFill>
                <a:latin typeface="PP Pangram Sans"/>
              </a:rPr>
              <a:t>odel.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247120"/>
            <a:ext cx="3657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160" b="1">
                <a:solidFill>
                  <a:srgbClr val="00272A"/>
                </a:solidFill>
                <a:latin typeface="PP Pangram Sans"/>
              </a:rPr>
              <a:t>✦ enzo</a:t>
            </a:r>
            <a:r>
              <a:rPr sz="2160" b="0">
                <a:solidFill>
                  <a:srgbClr val="00272A"/>
                </a:solidFill>
                <a:latin typeface="PP Pangram Sans"/>
              </a:rPr>
              <a:t>health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875520" cy="12344400"/>
          </a:xfrm>
          <a:prstGeom prst="rect">
            <a:avLst/>
          </a:prstGeom>
          <a:solidFill>
            <a:srgbClr val="F8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grain-1080x13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875520" cy="1234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49440" y="804672"/>
            <a:ext cx="21945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584" b="1">
                <a:solidFill>
                  <a:srgbClr val="B59CAE"/>
                </a:solidFill>
                <a:latin typeface="PP Pangram Sans"/>
              </a:rPr>
              <a:t>03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85039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448" b="0">
                <a:solidFill>
                  <a:srgbClr val="00272A"/>
                </a:solidFill>
                <a:latin typeface="PP Pangram Sans"/>
              </a:rPr>
              <a:t>For certain surgeries, hospitals are now accountable for cost and quality across the full 30 days after discharge.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78608" y="3584448"/>
            <a:ext cx="4572000" cy="585216"/>
          </a:xfrm>
          <a:prstGeom prst="roundRect">
            <a:avLst>
              <a:gd name="adj" fmla="val 12000"/>
            </a:avLst>
          </a:prstGeom>
          <a:solidFill>
            <a:srgbClr val="DCF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3822192"/>
            <a:ext cx="8302752" cy="91440"/>
          </a:xfrm>
          <a:prstGeom prst="rect">
            <a:avLst/>
          </a:prstGeom>
          <a:solidFill>
            <a:srgbClr val="462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3675888"/>
            <a:ext cx="54864" cy="384048"/>
          </a:xfrm>
          <a:prstGeom prst="rect">
            <a:avLst/>
          </a:prstGeom>
          <a:solidFill>
            <a:srgbClr val="462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92040" y="3675888"/>
            <a:ext cx="54864" cy="384048"/>
          </a:xfrm>
          <a:prstGeom prst="rect">
            <a:avLst/>
          </a:prstGeom>
          <a:solidFill>
            <a:srgbClr val="462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97696" y="3675888"/>
            <a:ext cx="54864" cy="384048"/>
          </a:xfrm>
          <a:prstGeom prst="rect">
            <a:avLst/>
          </a:prstGeom>
          <a:solidFill>
            <a:srgbClr val="462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79392"/>
            <a:ext cx="3657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84" b="1">
                <a:solidFill>
                  <a:srgbClr val="46213F"/>
                </a:solidFill>
                <a:latin typeface="PP Pangram Sans"/>
              </a:rPr>
              <a:t>Day 0 · Discharge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4279392"/>
            <a:ext cx="323697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584" b="1">
                <a:solidFill>
                  <a:srgbClr val="46213F"/>
                </a:solidFill>
                <a:latin typeface="PP Pangram Sans"/>
              </a:rPr>
              <a:t>Day 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8608" y="4663440"/>
            <a:ext cx="4572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584" b="1">
                <a:solidFill>
                  <a:srgbClr val="00272A"/>
                </a:solidFill>
                <a:latin typeface="PP Pangram Sans"/>
              </a:rPr>
              <a:t>↑ home health happens here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035040"/>
            <a:ext cx="8412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040" b="0">
                <a:solidFill>
                  <a:srgbClr val="46213F"/>
                </a:solidFill>
                <a:latin typeface="Reckless"/>
              </a:rPr>
              <a:t>That window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7059168"/>
            <a:ext cx="7040880" cy="841248"/>
          </a:xfrm>
          <a:prstGeom prst="rect">
            <a:avLst/>
          </a:prstGeom>
          <a:solidFill>
            <a:srgbClr val="DCF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7095744"/>
            <a:ext cx="7772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040" b="0">
                <a:solidFill>
                  <a:srgbClr val="46213F"/>
                </a:solidFill>
                <a:latin typeface="Reckless"/>
              </a:rPr>
              <a:t>includes home health.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11247120"/>
            <a:ext cx="3657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160" b="1">
                <a:solidFill>
                  <a:srgbClr val="00272A"/>
                </a:solidFill>
                <a:latin typeface="PP Pangram Sans"/>
              </a:rPr>
              <a:t>✦ enzo</a:t>
            </a:r>
            <a:r>
              <a:rPr sz="2160" b="0">
                <a:solidFill>
                  <a:srgbClr val="00272A"/>
                </a:solidFill>
                <a:latin typeface="PP Pangram Sans"/>
              </a:rPr>
              <a:t>health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875520" cy="12344400"/>
          </a:xfrm>
          <a:prstGeom prst="rect">
            <a:avLst/>
          </a:prstGeom>
          <a:solidFill>
            <a:srgbClr val="F8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grain-1080x13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875520" cy="1234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49440" y="804672"/>
            <a:ext cx="21945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584" b="1">
                <a:solidFill>
                  <a:srgbClr val="B59CAE"/>
                </a:solidFill>
                <a:latin typeface="PP Pangram Sans"/>
              </a:rPr>
              <a:t>04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8503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448" b="0">
                <a:solidFill>
                  <a:srgbClr val="00272A"/>
                </a:solidFill>
                <a:latin typeface="PP Pangram Sans"/>
              </a:rPr>
              <a:t>When a hospital owns the outcome for 30 days, a readmission becomes its problem, not just yours.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34640"/>
            <a:ext cx="7315200" cy="7680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7432">
            <a:solidFill>
              <a:srgbClr val="462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3072384"/>
            <a:ext cx="68580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28" b="1">
                <a:solidFill>
                  <a:srgbClr val="00272A"/>
                </a:solidFill>
                <a:latin typeface="PP Pangram Sans"/>
              </a:rPr>
              <a:t>Hospital: chooses where the next patient goes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3694176"/>
            <a:ext cx="5486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79" b="0">
                <a:solidFill>
                  <a:srgbClr val="46213F"/>
                </a:solidFill>
                <a:latin typeface="PP Pangram Sans"/>
              </a:rP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61104"/>
            <a:ext cx="7315200" cy="694944"/>
          </a:xfrm>
          <a:prstGeom prst="roundRect">
            <a:avLst>
              <a:gd name="adj" fmla="val 12000"/>
            </a:avLst>
          </a:prstGeom>
          <a:noFill/>
          <a:ln w="22860">
            <a:solidFill>
              <a:srgbClr val="8A7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4462272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28" b="0">
                <a:solidFill>
                  <a:srgbClr val="8A7484"/>
                </a:solidFill>
                <a:latin typeface="PP Pangram Sans"/>
              </a:rPr>
              <a:t>Agency A · readmission risk unknown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84064"/>
            <a:ext cx="7315200" cy="694944"/>
          </a:xfrm>
          <a:prstGeom prst="roundRect">
            <a:avLst>
              <a:gd name="adj" fmla="val 12000"/>
            </a:avLst>
          </a:prstGeom>
          <a:noFill/>
          <a:ln w="22860">
            <a:solidFill>
              <a:srgbClr val="8A7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5285232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28" b="0">
                <a:solidFill>
                  <a:srgbClr val="8A7484"/>
                </a:solidFill>
                <a:latin typeface="PP Pangram Sans"/>
              </a:rPr>
              <a:t>Agency B · readmission risk unknown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6016752"/>
            <a:ext cx="7315200" cy="768096"/>
          </a:xfrm>
          <a:prstGeom prst="roundRect">
            <a:avLst>
              <a:gd name="adj" fmla="val 12000"/>
            </a:avLst>
          </a:prstGeom>
          <a:solidFill>
            <a:srgbClr val="462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5907024"/>
            <a:ext cx="7315200" cy="768096"/>
          </a:xfrm>
          <a:prstGeom prst="roundRect">
            <a:avLst>
              <a:gd name="adj" fmla="val 12000"/>
            </a:avLst>
          </a:prstGeom>
          <a:solidFill>
            <a:srgbClr val="DCFF9F"/>
          </a:solidFill>
          <a:ln w="36576">
            <a:solidFill>
              <a:srgbClr val="462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6144768"/>
            <a:ext cx="68580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28" b="1">
                <a:solidFill>
                  <a:srgbClr val="00272A"/>
                </a:solidFill>
                <a:latin typeface="PP Pangram Sans"/>
              </a:rPr>
              <a:t>Agency C · lowest readmission risk  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7315200"/>
            <a:ext cx="8412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744" b="0">
                <a:solidFill>
                  <a:srgbClr val="46213F"/>
                </a:solidFill>
                <a:latin typeface="Reckless"/>
              </a:rPr>
              <a:t>It sends patients to the agencies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8211312"/>
            <a:ext cx="5669280" cy="713232"/>
          </a:xfrm>
          <a:prstGeom prst="rect">
            <a:avLst/>
          </a:prstGeom>
          <a:solidFill>
            <a:srgbClr val="DCF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8247888"/>
            <a:ext cx="6400800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744" b="0">
                <a:solidFill>
                  <a:srgbClr val="46213F"/>
                </a:solidFill>
                <a:latin typeface="Reckless"/>
              </a:rPr>
              <a:t>least likely to cause one.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11247120"/>
            <a:ext cx="3657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160" b="1">
                <a:solidFill>
                  <a:srgbClr val="00272A"/>
                </a:solidFill>
                <a:latin typeface="PP Pangram Sans"/>
              </a:rPr>
              <a:t>✦ enzo</a:t>
            </a:r>
            <a:r>
              <a:rPr sz="2160" b="0">
                <a:solidFill>
                  <a:srgbClr val="00272A"/>
                </a:solidFill>
                <a:latin typeface="PP Pangram Sans"/>
              </a:rPr>
              <a:t>health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875520" cy="12344400"/>
          </a:xfrm>
          <a:prstGeom prst="rect">
            <a:avLst/>
          </a:prstGeom>
          <a:solidFill>
            <a:srgbClr val="F8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grain-1080x13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875520" cy="1234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49440" y="804672"/>
            <a:ext cx="21945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584" b="1">
                <a:solidFill>
                  <a:srgbClr val="B59CAE"/>
                </a:solidFill>
                <a:latin typeface="PP Pangram Sans"/>
              </a:rPr>
              <a:t>05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28" b="1">
                <a:solidFill>
                  <a:srgbClr val="007074"/>
                </a:solidFill>
                <a:latin typeface="PP Pangram Sans"/>
              </a:rPr>
              <a:t>THIS SHIFTS HOW REFERRALS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8412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744" b="0">
                <a:solidFill>
                  <a:srgbClr val="8A7484"/>
                </a:solidFill>
                <a:latin typeface="Reckless"/>
              </a:rPr>
              <a:t>Who the discharge planner knows.</a:t>
            </a:r>
          </a:p>
        </p:txBody>
      </p:sp>
      <p:sp>
        <p:nvSpPr>
          <p:cNvPr id="7" name="Rectangle 6"/>
          <p:cNvSpPr/>
          <p:nvPr/>
        </p:nvSpPr>
        <p:spPr>
          <a:xfrm rot="21510000">
            <a:off x="603504" y="3218688"/>
            <a:ext cx="6949440" cy="73152"/>
          </a:xfrm>
          <a:prstGeom prst="rect">
            <a:avLst/>
          </a:prstGeom>
          <a:solidFill>
            <a:srgbClr val="462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8412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6048" b="0">
                <a:solidFill>
                  <a:srgbClr val="46213F"/>
                </a:solidFill>
                <a:latin typeface="Reckless"/>
              </a:rPr>
              <a:t>Who keeps patients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907024"/>
            <a:ext cx="7040880" cy="969264"/>
          </a:xfrm>
          <a:prstGeom prst="rect">
            <a:avLst/>
          </a:prstGeom>
          <a:solidFill>
            <a:srgbClr val="DCF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961888"/>
            <a:ext cx="7772400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6048" b="0">
                <a:solidFill>
                  <a:srgbClr val="46213F"/>
                </a:solidFill>
                <a:latin typeface="Reckless"/>
              </a:rPr>
              <a:t>out of the hospital.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1247120"/>
            <a:ext cx="3657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160" b="1">
                <a:solidFill>
                  <a:srgbClr val="00272A"/>
                </a:solidFill>
                <a:latin typeface="PP Pangram Sans"/>
              </a:rPr>
              <a:t>✦ enzo</a:t>
            </a:r>
            <a:r>
              <a:rPr sz="2160" b="0">
                <a:solidFill>
                  <a:srgbClr val="00272A"/>
                </a:solidFill>
                <a:latin typeface="PP Pangram Sans"/>
              </a:rPr>
              <a:t>health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875520" cy="12344400"/>
          </a:xfrm>
          <a:prstGeom prst="rect">
            <a:avLst/>
          </a:prstGeom>
          <a:solidFill>
            <a:srgbClr val="F8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grain-1080x13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875520" cy="1234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49440" y="804672"/>
            <a:ext cx="21945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584" b="1">
                <a:solidFill>
                  <a:srgbClr val="B59CAE"/>
                </a:solidFill>
                <a:latin typeface="PP Pangram Sans"/>
              </a:rPr>
              <a:t>06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85039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448" b="0">
                <a:solidFill>
                  <a:srgbClr val="00272A"/>
                </a:solidFill>
                <a:latin typeface="PP Pangram Sans"/>
              </a:rPr>
              <a:t>On-time visits and clean documentation are what a hospital sees when it decides where to send the next patient.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365760" cy="365760"/>
          </a:xfrm>
          <a:prstGeom prst="roundRect">
            <a:avLst>
              <a:gd name="adj" fmla="val 12000"/>
            </a:avLst>
          </a:prstGeom>
          <a:noFill/>
          <a:ln w="27432">
            <a:solidFill>
              <a:srgbClr val="462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3694176"/>
            <a:ext cx="2377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72" b="1">
                <a:solidFill>
                  <a:srgbClr val="46213F"/>
                </a:solidFill>
                <a:latin typeface="PP Pangram Sans"/>
              </a:rPr>
              <a:t>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67588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016" b="0">
                <a:solidFill>
                  <a:srgbClr val="8A7484"/>
                </a:solidFill>
                <a:latin typeface="PP Pangram Sans"/>
              </a:rPr>
              <a:t>A compliance box</a:t>
            </a:r>
          </a:p>
        </p:txBody>
      </p:sp>
      <p:sp>
        <p:nvSpPr>
          <p:cNvPr id="9" name="Rectangle 8"/>
          <p:cNvSpPr/>
          <p:nvPr/>
        </p:nvSpPr>
        <p:spPr>
          <a:xfrm rot="21510000">
            <a:off x="1188720" y="3858768"/>
            <a:ext cx="2560320" cy="45720"/>
          </a:xfrm>
          <a:prstGeom prst="rect">
            <a:avLst/>
          </a:prstGeom>
          <a:solidFill>
            <a:srgbClr val="462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4315968"/>
            <a:ext cx="365760" cy="365760"/>
          </a:xfrm>
          <a:prstGeom prst="roundRect">
            <a:avLst>
              <a:gd name="adj" fmla="val 12000"/>
            </a:avLst>
          </a:prstGeom>
          <a:solidFill>
            <a:srgbClr val="DCFF9F"/>
          </a:solidFill>
          <a:ln w="27432">
            <a:solidFill>
              <a:srgbClr val="462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4352544"/>
            <a:ext cx="2560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72" b="1">
                <a:solidFill>
                  <a:srgbClr val="00272A"/>
                </a:solidFill>
                <a:latin typeface="PP Pangram San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334256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016" b="1">
                <a:solidFill>
                  <a:srgbClr val="00272A"/>
                </a:solidFill>
                <a:latin typeface="PP Pangram Sans"/>
              </a:rPr>
              <a:t>A referral decision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760720"/>
            <a:ext cx="8412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759" b="0">
                <a:solidFill>
                  <a:srgbClr val="46213F"/>
                </a:solidFill>
                <a:latin typeface="Reckless"/>
              </a:rPr>
              <a:t>That makes them 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839712"/>
            <a:ext cx="6766560" cy="932688"/>
          </a:xfrm>
          <a:prstGeom prst="rect">
            <a:avLst/>
          </a:prstGeom>
          <a:solidFill>
            <a:srgbClr val="DCF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876288"/>
            <a:ext cx="7315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759" b="0">
                <a:solidFill>
                  <a:srgbClr val="46213F"/>
                </a:solidFill>
                <a:latin typeface="Reckless"/>
              </a:rPr>
              <a:t>referral decision,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7918704"/>
            <a:ext cx="8412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759" b="0">
                <a:solidFill>
                  <a:srgbClr val="46213F"/>
                </a:solidFill>
                <a:latin typeface="Reckless"/>
              </a:rPr>
              <a:t>not a compliance box.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11247120"/>
            <a:ext cx="3657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160" b="1">
                <a:solidFill>
                  <a:srgbClr val="00272A"/>
                </a:solidFill>
                <a:latin typeface="PP Pangram Sans"/>
              </a:rPr>
              <a:t>✦ enzo</a:t>
            </a:r>
            <a:r>
              <a:rPr sz="2160" b="0">
                <a:solidFill>
                  <a:srgbClr val="00272A"/>
                </a:solidFill>
                <a:latin typeface="PP Pangram Sans"/>
              </a:rPr>
              <a:t>health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875520" cy="12344400"/>
          </a:xfrm>
          <a:prstGeom prst="rect">
            <a:avLst/>
          </a:prstGeom>
          <a:solidFill>
            <a:srgbClr val="F8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grain-1080x13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875520" cy="1234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49440" y="804672"/>
            <a:ext cx="21945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584" b="1">
                <a:solidFill>
                  <a:srgbClr val="B59CAE"/>
                </a:solidFill>
                <a:latin typeface="PP Pangram Sans"/>
              </a:rPr>
              <a:t>07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8503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448" b="0">
                <a:solidFill>
                  <a:srgbClr val="00272A"/>
                </a:solidFill>
                <a:latin typeface="PP Pangram Sans"/>
              </a:rPr>
              <a:t>Most agencies can't easily pull their own outcomes data.</a:t>
            </a:r>
          </a:p>
        </p:txBody>
      </p:sp>
      <p:sp>
        <p:nvSpPr>
          <p:cNvPr id="6" name="Rounded Rectangle 5"/>
          <p:cNvSpPr/>
          <p:nvPr/>
        </p:nvSpPr>
        <p:spPr>
          <a:xfrm rot="21510000">
            <a:off x="859536" y="2688336"/>
            <a:ext cx="4023360" cy="3108960"/>
          </a:xfrm>
          <a:prstGeom prst="roundRect">
            <a:avLst>
              <a:gd name="adj" fmla="val 12000"/>
            </a:avLst>
          </a:prstGeom>
          <a:solidFill>
            <a:srgbClr val="E3B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 rot="21510000">
            <a:off x="731520" y="2560320"/>
            <a:ext cx="4023360" cy="3108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7432">
            <a:solidFill>
              <a:srgbClr val="462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 rot="21510000">
            <a:off x="1005840" y="2798064"/>
            <a:ext cx="34747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12" b="1">
                <a:solidFill>
                  <a:srgbClr val="46213F"/>
                </a:solidFill>
                <a:latin typeface="PP Pangram Sans"/>
              </a:rPr>
              <a:t>MOST AGENCIES</a:t>
            </a:r>
          </a:p>
        </p:txBody>
      </p:sp>
      <p:sp>
        <p:nvSpPr>
          <p:cNvPr id="9" name="Rectangle 8"/>
          <p:cNvSpPr/>
          <p:nvPr/>
        </p:nvSpPr>
        <p:spPr>
          <a:xfrm rot="21510000">
            <a:off x="1005840" y="3163824"/>
            <a:ext cx="3474720" cy="27432"/>
          </a:xfrm>
          <a:prstGeom prst="rect">
            <a:avLst/>
          </a:prstGeom>
          <a:solidFill>
            <a:srgbClr val="462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 rot="21510000">
            <a:off x="1005840" y="3383280"/>
            <a:ext cx="2468880" cy="701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00272A"/>
                </a:solidFill>
                <a:latin typeface="PP Pangram Sans"/>
              </a:rPr>
              <a:t>Readmissions</a:t>
            </a:r>
          </a:p>
        </p:txBody>
      </p:sp>
      <p:sp>
        <p:nvSpPr>
          <p:cNvPr id="11" name="TextBox 10"/>
          <p:cNvSpPr txBox="1"/>
          <p:nvPr/>
        </p:nvSpPr>
        <p:spPr>
          <a:xfrm rot="21510000">
            <a:off x="3566160" y="3346704"/>
            <a:ext cx="914400" cy="701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2304" b="1">
                <a:solidFill>
                  <a:srgbClr val="00272A"/>
                </a:solidFill>
                <a:latin typeface="Reckless"/>
              </a:rPr>
              <a:t>?</a:t>
            </a:r>
          </a:p>
        </p:txBody>
      </p:sp>
      <p:sp>
        <p:nvSpPr>
          <p:cNvPr id="12" name="TextBox 11"/>
          <p:cNvSpPr txBox="1"/>
          <p:nvPr/>
        </p:nvSpPr>
        <p:spPr>
          <a:xfrm rot="21510000">
            <a:off x="1005840" y="4084320"/>
            <a:ext cx="2468880" cy="701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00272A"/>
                </a:solidFill>
                <a:latin typeface="PP Pangram Sans"/>
              </a:rPr>
              <a:t>On-time starts</a:t>
            </a:r>
          </a:p>
        </p:txBody>
      </p:sp>
      <p:sp>
        <p:nvSpPr>
          <p:cNvPr id="13" name="TextBox 12"/>
          <p:cNvSpPr txBox="1"/>
          <p:nvPr/>
        </p:nvSpPr>
        <p:spPr>
          <a:xfrm rot="21510000">
            <a:off x="3566160" y="4047744"/>
            <a:ext cx="914400" cy="701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2304" b="1">
                <a:solidFill>
                  <a:srgbClr val="00272A"/>
                </a:solidFill>
                <a:latin typeface="Reckless"/>
              </a:rPr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 rot="21510000">
            <a:off x="1005840" y="4785360"/>
            <a:ext cx="2468880" cy="701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00272A"/>
                </a:solidFill>
                <a:latin typeface="PP Pangram Sans"/>
              </a:rPr>
              <a:t>Outcomes</a:t>
            </a:r>
          </a:p>
        </p:txBody>
      </p:sp>
      <p:sp>
        <p:nvSpPr>
          <p:cNvPr id="15" name="TextBox 14"/>
          <p:cNvSpPr txBox="1"/>
          <p:nvPr/>
        </p:nvSpPr>
        <p:spPr>
          <a:xfrm rot="21510000">
            <a:off x="3566160" y="4748784"/>
            <a:ext cx="914400" cy="701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2304" b="1">
                <a:solidFill>
                  <a:srgbClr val="00272A"/>
                </a:solidFill>
                <a:latin typeface="Reckless"/>
              </a:rPr>
              <a:t>?</a:t>
            </a:r>
          </a:p>
        </p:txBody>
      </p:sp>
      <p:sp>
        <p:nvSpPr>
          <p:cNvPr id="16" name="Rounded Rectangle 15"/>
          <p:cNvSpPr/>
          <p:nvPr/>
        </p:nvSpPr>
        <p:spPr>
          <a:xfrm rot="90000">
            <a:off x="5248656" y="2688336"/>
            <a:ext cx="4023360" cy="3108960"/>
          </a:xfrm>
          <a:prstGeom prst="roundRect">
            <a:avLst>
              <a:gd name="adj" fmla="val 12000"/>
            </a:avLst>
          </a:prstGeom>
          <a:solidFill>
            <a:srgbClr val="DCF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 rot="90000">
            <a:off x="5120640" y="2560320"/>
            <a:ext cx="4023360" cy="3108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7432">
            <a:solidFill>
              <a:srgbClr val="462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 rot="90000">
            <a:off x="5394960" y="2798064"/>
            <a:ext cx="34747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12" b="1">
                <a:solidFill>
                  <a:srgbClr val="46213F"/>
                </a:solidFill>
                <a:latin typeface="PP Pangram Sans"/>
              </a:rPr>
              <a:t>THE ONES WITH DATA</a:t>
            </a:r>
          </a:p>
        </p:txBody>
      </p:sp>
      <p:sp>
        <p:nvSpPr>
          <p:cNvPr id="19" name="Rectangle 18"/>
          <p:cNvSpPr/>
          <p:nvPr/>
        </p:nvSpPr>
        <p:spPr>
          <a:xfrm rot="90000">
            <a:off x="5394960" y="3163824"/>
            <a:ext cx="3474720" cy="27432"/>
          </a:xfrm>
          <a:prstGeom prst="rect">
            <a:avLst/>
          </a:prstGeom>
          <a:solidFill>
            <a:srgbClr val="462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 rot="90000">
            <a:off x="5394960" y="3383280"/>
            <a:ext cx="2468880" cy="701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00272A"/>
                </a:solidFill>
                <a:latin typeface="PP Pangram Sans"/>
              </a:rPr>
              <a:t>Readmissions</a:t>
            </a:r>
          </a:p>
        </p:txBody>
      </p:sp>
      <p:sp>
        <p:nvSpPr>
          <p:cNvPr id="21" name="TextBox 20"/>
          <p:cNvSpPr txBox="1"/>
          <p:nvPr/>
        </p:nvSpPr>
        <p:spPr>
          <a:xfrm rot="90000">
            <a:off x="7955280" y="3346704"/>
            <a:ext cx="914400" cy="701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2304" b="1">
                <a:solidFill>
                  <a:srgbClr val="00272A"/>
                </a:solidFill>
                <a:latin typeface="Reckless"/>
              </a:rPr>
              <a:t>A−</a:t>
            </a:r>
          </a:p>
        </p:txBody>
      </p:sp>
      <p:sp>
        <p:nvSpPr>
          <p:cNvPr id="22" name="TextBox 21"/>
          <p:cNvSpPr txBox="1"/>
          <p:nvPr/>
        </p:nvSpPr>
        <p:spPr>
          <a:xfrm rot="90000">
            <a:off x="5394960" y="4084320"/>
            <a:ext cx="2468880" cy="701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00272A"/>
                </a:solidFill>
                <a:latin typeface="PP Pangram Sans"/>
              </a:rPr>
              <a:t>On-time starts</a:t>
            </a:r>
          </a:p>
        </p:txBody>
      </p:sp>
      <p:sp>
        <p:nvSpPr>
          <p:cNvPr id="23" name="TextBox 22"/>
          <p:cNvSpPr txBox="1"/>
          <p:nvPr/>
        </p:nvSpPr>
        <p:spPr>
          <a:xfrm rot="90000">
            <a:off x="7955280" y="4047744"/>
            <a:ext cx="914400" cy="701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2304" b="1">
                <a:solidFill>
                  <a:srgbClr val="00272A"/>
                </a:solidFill>
                <a:latin typeface="Reckless"/>
              </a:rPr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 rot="90000">
            <a:off x="5394960" y="4785360"/>
            <a:ext cx="2468880" cy="701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00272A"/>
                </a:solidFill>
                <a:latin typeface="PP Pangram Sans"/>
              </a:rPr>
              <a:t>Outcomes</a:t>
            </a:r>
          </a:p>
        </p:txBody>
      </p:sp>
      <p:sp>
        <p:nvSpPr>
          <p:cNvPr id="25" name="TextBox 24"/>
          <p:cNvSpPr txBox="1"/>
          <p:nvPr/>
        </p:nvSpPr>
        <p:spPr>
          <a:xfrm rot="90000">
            <a:off x="7955280" y="4748784"/>
            <a:ext cx="914400" cy="701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2304" b="1">
                <a:solidFill>
                  <a:srgbClr val="00272A"/>
                </a:solidFill>
                <a:latin typeface="Reckless"/>
              </a:rPr>
              <a:t>B+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766560"/>
            <a:ext cx="8412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608" b="0">
                <a:solidFill>
                  <a:srgbClr val="46213F"/>
                </a:solidFill>
                <a:latin typeface="Reckless"/>
              </a:rPr>
              <a:t>The ones that can will have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7790688"/>
            <a:ext cx="3017520" cy="804672"/>
          </a:xfrm>
          <a:prstGeom prst="rect">
            <a:avLst/>
          </a:prstGeom>
          <a:solidFill>
            <a:srgbClr val="DCF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7827264"/>
            <a:ext cx="347472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608" b="0">
                <a:solidFill>
                  <a:srgbClr val="46213F"/>
                </a:solidFill>
                <a:latin typeface="Reckless"/>
              </a:rPr>
              <a:t>the edge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8796528"/>
            <a:ext cx="8412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608" b="0">
                <a:solidFill>
                  <a:srgbClr val="46213F"/>
                </a:solidFill>
                <a:latin typeface="Reckless"/>
              </a:rPr>
              <a:t>when hospitals start choosing.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11247120"/>
            <a:ext cx="3657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160" b="1">
                <a:solidFill>
                  <a:srgbClr val="00272A"/>
                </a:solidFill>
                <a:latin typeface="PP Pangram Sans"/>
              </a:rPr>
              <a:t>✦ enzo</a:t>
            </a:r>
            <a:r>
              <a:rPr sz="2160" b="0">
                <a:solidFill>
                  <a:srgbClr val="00272A"/>
                </a:solidFill>
                <a:latin typeface="PP Pangram Sans"/>
              </a:rPr>
              <a:t>health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875520" cy="12344400"/>
          </a:xfrm>
          <a:prstGeom prst="rect">
            <a:avLst/>
          </a:prstGeom>
          <a:solidFill>
            <a:srgbClr val="F8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grain-1080x13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875520" cy="1234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49440" y="804672"/>
            <a:ext cx="21945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584" b="1">
                <a:solidFill>
                  <a:srgbClr val="B59CAE"/>
                </a:solidFill>
                <a:latin typeface="PP Pangram Sans"/>
              </a:rPr>
              <a:t>08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728" b="1">
                <a:solidFill>
                  <a:srgbClr val="007074"/>
                </a:solidFill>
                <a:latin typeface="PP Pangram Sans"/>
              </a:rPr>
              <a:t>ONE QUESTION FOR YOUR TEAM THIS WEEK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822960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5040" b="0">
                <a:solidFill>
                  <a:srgbClr val="46213F"/>
                </a:solidFill>
                <a:latin typeface="Reckless"/>
              </a:rPr>
              <a:t>If your referral sources could see your outcomes tomorrow, would they send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8046720"/>
            <a:ext cx="3840480" cy="841248"/>
          </a:xfrm>
          <a:prstGeom prst="rect">
            <a:avLst/>
          </a:prstGeom>
          <a:solidFill>
            <a:srgbClr val="DCF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8083296"/>
            <a:ext cx="8229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5040" b="0">
                <a:solidFill>
                  <a:srgbClr val="46213F"/>
                </a:solidFill>
                <a:latin typeface="Reckless"/>
              </a:rPr>
              <a:t>more patients?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0881360"/>
            <a:ext cx="3657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160" b="1">
                <a:solidFill>
                  <a:srgbClr val="00272A"/>
                </a:solidFill>
                <a:latin typeface="PP Pangram Sans"/>
              </a:rPr>
              <a:t>✦ enzo</a:t>
            </a:r>
            <a:r>
              <a:rPr sz="2160" b="0">
                <a:solidFill>
                  <a:srgbClr val="00272A"/>
                </a:solidFill>
                <a:latin typeface="PP Pangram Sans"/>
              </a:rPr>
              <a:t>health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